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50" autoAdjust="0"/>
  </p:normalViewPr>
  <p:slideViewPr>
    <p:cSldViewPr snapToGrid="0" snapToObjects="1">
      <p:cViewPr varScale="1">
        <p:scale>
          <a:sx n="78" d="100"/>
          <a:sy n="78" d="100"/>
        </p:scale>
        <p:origin x="5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70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566449" cy="44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76" y="1564591"/>
            <a:ext cx="10566424" cy="448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566449" cy="44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76" y="1564591"/>
            <a:ext cx="10566424" cy="448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6" y="2221303"/>
            <a:ext cx="108834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VIRTUALIZATION PLATFORMS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6" y="2691179"/>
            <a:ext cx="10883442" cy="14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76" y="4281048"/>
            <a:ext cx="10883442" cy="38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B8C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key differences, use cases, pros and cons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6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Virtualization and the hypervisor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76" y="1564591"/>
            <a:ext cx="10883442" cy="59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hypervisor sits between hardware and virtual machines, sharing CPU, memory, storage and network among isolated VMs.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776" y="2438253"/>
            <a:ext cx="5181600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6" y="2438253"/>
            <a:ext cx="5181600" cy="1702191"/>
          </a:xfrm>
          <a:custGeom>
            <a:avLst/>
            <a:gdLst/>
            <a:ahLst/>
            <a:cxnLst/>
            <a:rect l="l" t="t" r="r" b="b"/>
            <a:pathLst>
              <a:path w="5181600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6" name="Text 4"/>
          <p:cNvSpPr/>
          <p:nvPr/>
        </p:nvSpPr>
        <p:spPr>
          <a:xfrm>
            <a:off x="1066727" y="2739097"/>
            <a:ext cx="481390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1: bare-metal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727" y="3114968"/>
            <a:ext cx="481390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directly on server hardware. Best performance and lowest overhead, used for production. Examples: VMware ESXi, KVM.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7551" y="2438253"/>
            <a:ext cx="5181673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197551" y="2438253"/>
            <a:ext cx="5181673" cy="1702191"/>
          </a:xfrm>
          <a:custGeom>
            <a:avLst/>
            <a:gdLst/>
            <a:ahLst/>
            <a:cxnLst/>
            <a:rect l="l" t="t" r="r" b="b"/>
            <a:pathLst>
              <a:path w="5181673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73" y="0"/>
                </a:lnTo>
                <a:arcTo wR="101600" hR="101600" stAng="16200000" swAng="5400000"/>
                <a:lnTo>
                  <a:pt x="518167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A6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51502" y="2739097"/>
            <a:ext cx="48139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2: hosted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1502" y="3114968"/>
            <a:ext cx="481398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as an application on a host OS. Easier to set up but adds overhead. Examples: VMware Workstation, VirtualBox.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hypervisor manages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76" y="1564591"/>
            <a:ext cx="10883442" cy="30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the hypervisor as a building manager and each VM as an apartment: shared resources, separate homes.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776" y="2153822"/>
            <a:ext cx="2527276" cy="1702191"/>
          </a:xfrm>
          <a:prstGeom prst="roundRect">
            <a:avLst>
              <a:gd name="adj" fmla="val 5969"/>
            </a:avLst>
          </a:prstGeom>
          <a:solidFill>
            <a:srgbClr val="1B2B44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6" y="2153822"/>
            <a:ext cx="2527276" cy="1702191"/>
          </a:xfrm>
          <a:custGeom>
            <a:avLst/>
            <a:gdLst/>
            <a:ahLst/>
            <a:cxnLst/>
            <a:rect l="l" t="t" r="r" b="b"/>
            <a:pathLst>
              <a:path w="2527276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676" y="0"/>
                </a:lnTo>
                <a:arcTo wR="101600" hR="101600" stAng="16200000" swAng="5400000"/>
                <a:lnTo>
                  <a:pt x="2527276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66727" y="2454666"/>
            <a:ext cx="20799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scheduling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727" y="2830537"/>
            <a:ext cx="207995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Gives more processing time to the VM that needs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92451" y="2153822"/>
            <a:ext cx="2527349" cy="1702191"/>
          </a:xfrm>
          <a:prstGeom prst="roundRect">
            <a:avLst>
              <a:gd name="adj" fmla="val 5969"/>
            </a:avLst>
          </a:prstGeom>
          <a:solidFill>
            <a:srgbClr val="1B2B44"/>
          </a:solidFill>
          <a:ln/>
        </p:spPr>
      </p:sp>
      <p:sp>
        <p:nvSpPr>
          <p:cNvPr id="9" name="Shape 7"/>
          <p:cNvSpPr/>
          <p:nvPr/>
        </p:nvSpPr>
        <p:spPr>
          <a:xfrm>
            <a:off x="3492451" y="2153822"/>
            <a:ext cx="2527349" cy="1702191"/>
          </a:xfrm>
          <a:custGeom>
            <a:avLst/>
            <a:gdLst/>
            <a:ahLst/>
            <a:cxnLst/>
            <a:rect l="l" t="t" r="r" b="b"/>
            <a:pathLst>
              <a:path w="2527349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49" y="0"/>
                </a:lnTo>
                <a:arcTo wR="101600" hR="101600" stAng="16200000" swAng="5400000"/>
                <a:lnTo>
                  <a:pt x="2527349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6AA9E6"/>
          </a:solidFill>
          <a:ln/>
        </p:spPr>
      </p:sp>
      <p:sp>
        <p:nvSpPr>
          <p:cNvPr id="10" name="Text 8"/>
          <p:cNvSpPr/>
          <p:nvPr/>
        </p:nvSpPr>
        <p:spPr>
          <a:xfrm>
            <a:off x="3746402" y="2454666"/>
            <a:ext cx="20800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6402" y="2830537"/>
            <a:ext cx="208003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available RAM efficiently across VMs.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2153822"/>
            <a:ext cx="2527276" cy="1702191"/>
          </a:xfrm>
          <a:prstGeom prst="roundRect">
            <a:avLst>
              <a:gd name="adj" fmla="val 5969"/>
            </a:avLst>
          </a:prstGeom>
          <a:solidFill>
            <a:srgbClr val="1B2B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153822"/>
            <a:ext cx="2527276" cy="1702191"/>
          </a:xfrm>
          <a:custGeom>
            <a:avLst/>
            <a:gdLst/>
            <a:ahLst/>
            <a:cxnLst/>
            <a:rect l="l" t="t" r="r" b="b"/>
            <a:pathLst>
              <a:path w="2527276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676" y="0"/>
                </a:lnTo>
                <a:arcTo wR="101600" hR="101600" stAng="16200000" swAng="5400000"/>
                <a:lnTo>
                  <a:pt x="2527276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151" y="2454666"/>
            <a:ext cx="20799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26151" y="2830537"/>
            <a:ext cx="207995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VM sees its own virtual disk.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51876" y="2153822"/>
            <a:ext cx="2527349" cy="1702191"/>
          </a:xfrm>
          <a:prstGeom prst="roundRect">
            <a:avLst>
              <a:gd name="adj" fmla="val 5969"/>
            </a:avLst>
          </a:prstGeom>
          <a:solidFill>
            <a:srgbClr val="1B2B44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1876" y="2153822"/>
            <a:ext cx="2527349" cy="1702191"/>
          </a:xfrm>
          <a:custGeom>
            <a:avLst/>
            <a:gdLst/>
            <a:ahLst/>
            <a:cxnLst/>
            <a:rect l="l" t="t" r="r" b="b"/>
            <a:pathLst>
              <a:path w="2527349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49" y="0"/>
                </a:lnTo>
                <a:arcTo wR="101600" hR="101600" stAng="16200000" swAng="5400000"/>
                <a:lnTo>
                  <a:pt x="2527349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6AA9E6"/>
          </a:solidFill>
          <a:ln/>
        </p:spPr>
      </p:sp>
      <p:sp>
        <p:nvSpPr>
          <p:cNvPr id="18" name="Text 16"/>
          <p:cNvSpPr/>
          <p:nvPr/>
        </p:nvSpPr>
        <p:spPr>
          <a:xfrm>
            <a:off x="9105827" y="2454666"/>
            <a:ext cx="20800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05827" y="2830537"/>
            <a:ext cx="208003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hardware with isolated traffic.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9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7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VMware ESXi: the enterprise foundation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76" y="1564591"/>
            <a:ext cx="5181600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6" y="1564591"/>
            <a:ext cx="5181600" cy="1702191"/>
          </a:xfrm>
          <a:custGeom>
            <a:avLst/>
            <a:gdLst/>
            <a:ahLst/>
            <a:cxnLst/>
            <a:rect l="l" t="t" r="r" b="b"/>
            <a:pathLst>
              <a:path w="5181600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A6FB0"/>
          </a:solidFill>
          <a:ln/>
        </p:spPr>
      </p:sp>
      <p:sp>
        <p:nvSpPr>
          <p:cNvPr id="5" name="Text 3"/>
          <p:cNvSpPr/>
          <p:nvPr/>
        </p:nvSpPr>
        <p:spPr>
          <a:xfrm>
            <a:off x="1066727" y="1865435"/>
            <a:ext cx="481390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Bare-metal hypervisor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727" y="2241307"/>
            <a:ext cx="481390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ESXi manages hardware directly with a streamlined design, minimizing overhead and running many VMs per server.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551" y="1564591"/>
            <a:ext cx="5181673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551" y="1564591"/>
            <a:ext cx="5181673" cy="1702191"/>
          </a:xfrm>
          <a:custGeom>
            <a:avLst/>
            <a:gdLst/>
            <a:ahLst/>
            <a:cxnLst/>
            <a:rect l="l" t="t" r="r" b="b"/>
            <a:pathLst>
              <a:path w="5181673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73" y="0"/>
                </a:lnTo>
                <a:arcTo wR="101600" hR="101600" stAng="16200000" swAng="5400000"/>
                <a:lnTo>
                  <a:pt x="518167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A6FB0"/>
          </a:solidFill>
          <a:ln/>
        </p:spPr>
      </p:sp>
      <p:sp>
        <p:nvSpPr>
          <p:cNvPr id="9" name="Text 7"/>
          <p:cNvSpPr/>
          <p:nvPr/>
        </p:nvSpPr>
        <p:spPr>
          <a:xfrm>
            <a:off x="6451502" y="1865435"/>
            <a:ext cx="48139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 vs containers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51502" y="2241307"/>
            <a:ext cx="481398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 virtualize the hardware, each with a full OS. Containers virtualize the OS, sharing the host kernel as lightweight processes.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with KubeVirt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76" y="1564593"/>
            <a:ext cx="10883442" cy="30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VMs and containers side by side on one Kubernetes-based OpenShift platform.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776" y="2153822"/>
            <a:ext cx="3386651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6" y="2153822"/>
            <a:ext cx="3386651" cy="1702191"/>
          </a:xfrm>
          <a:custGeom>
            <a:avLst/>
            <a:gdLst/>
            <a:ahLst/>
            <a:cxnLst/>
            <a:rect l="l" t="t" r="r" b="b"/>
            <a:pathLst>
              <a:path w="3386651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51" y="0"/>
                </a:lnTo>
                <a:arcTo wR="101600" hR="101600" stAng="16200000" swAng="5400000"/>
                <a:lnTo>
                  <a:pt x="3386651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6" name="Text 4"/>
          <p:cNvSpPr/>
          <p:nvPr/>
        </p:nvSpPr>
        <p:spPr>
          <a:xfrm>
            <a:off x="1066727" y="2454666"/>
            <a:ext cx="296511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727" y="2830537"/>
            <a:ext cx="296511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Kubernetes platform that manages both containers and VMs.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602" y="2153822"/>
            <a:ext cx="3386724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02" y="2153822"/>
            <a:ext cx="3386724" cy="1702191"/>
          </a:xfrm>
          <a:custGeom>
            <a:avLst/>
            <a:gdLst/>
            <a:ahLst/>
            <a:cxnLst/>
            <a:rect l="l" t="t" r="r" b="b"/>
            <a:pathLst>
              <a:path w="3386724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124" y="0"/>
                </a:lnTo>
                <a:arcTo wR="101600" hR="101600" stAng="16200000" swAng="5400000"/>
                <a:lnTo>
                  <a:pt x="338672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10" name="Text 8"/>
          <p:cNvSpPr/>
          <p:nvPr/>
        </p:nvSpPr>
        <p:spPr>
          <a:xfrm>
            <a:off x="4656553" y="2454666"/>
            <a:ext cx="29651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KubeVirt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6553" y="2830537"/>
            <a:ext cx="296518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extension that lets Kubernetes run and manage VMs.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2501" y="2153822"/>
            <a:ext cx="3386724" cy="170219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01" y="2153822"/>
            <a:ext cx="3386724" cy="1702191"/>
          </a:xfrm>
          <a:custGeom>
            <a:avLst/>
            <a:gdLst/>
            <a:ahLst/>
            <a:cxnLst/>
            <a:rect l="l" t="t" r="r" b="b"/>
            <a:pathLst>
              <a:path w="3386724" h="170219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124" y="0"/>
                </a:lnTo>
                <a:arcTo wR="101600" hR="101600" stAng="16200000" swAng="5400000"/>
                <a:lnTo>
                  <a:pt x="338672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14" name="Text 12"/>
          <p:cNvSpPr/>
          <p:nvPr/>
        </p:nvSpPr>
        <p:spPr>
          <a:xfrm>
            <a:off x="8246452" y="2454666"/>
            <a:ext cx="29651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6452" y="2830537"/>
            <a:ext cx="296518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hypervisor that actually runs the virtual machines.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differences at a glance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54" y="1573971"/>
          <a:ext cx="10556997" cy="3570997"/>
        </p:xfrm>
        <a:graphic>
          <a:graphicData uri="http://schemas.openxmlformats.org/drawingml/2006/table">
            <a:tbl>
              <a:tblPr/>
              <a:tblGrid>
                <a:gridCol w="3518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76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3F4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3F4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OpenShift Virtualization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3F4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VMware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6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Hypervisor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KVM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ESXi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6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Management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Kubernetes with KubeVirt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vCenter and VMware tooling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9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Workloads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VMs and containers on one platform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VM-centric platform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76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Foundation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source (KubeVirt, KVM)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Proprietary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76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fit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Modernization and cloud-native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Established VM estates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76" y="1564593"/>
            <a:ext cx="5181600" cy="175619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6" y="1564593"/>
            <a:ext cx="5181600" cy="1756190"/>
          </a:xfrm>
          <a:custGeom>
            <a:avLst/>
            <a:gdLst/>
            <a:ahLst/>
            <a:cxnLst/>
            <a:rect l="l" t="t" r="r" b="b"/>
            <a:pathLst>
              <a:path w="5181600" h="17561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5" name="Text 3"/>
          <p:cNvSpPr/>
          <p:nvPr/>
        </p:nvSpPr>
        <p:spPr>
          <a:xfrm>
            <a:off x="1066727" y="1865437"/>
            <a:ext cx="481390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497" y="2266730"/>
            <a:ext cx="47415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legacy VMs next to containers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Gradual application modernization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standardizing on Kubernetes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551" y="1564593"/>
            <a:ext cx="5181673" cy="175619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551" y="1564593"/>
            <a:ext cx="5181673" cy="1756190"/>
          </a:xfrm>
          <a:custGeom>
            <a:avLst/>
            <a:gdLst/>
            <a:ahLst/>
            <a:cxnLst/>
            <a:rect l="l" t="t" r="r" b="b"/>
            <a:pathLst>
              <a:path w="5181673" h="17561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73" y="0"/>
                </a:lnTo>
                <a:arcTo wR="101600" hR="101600" stAng="16200000" swAng="5400000"/>
                <a:lnTo>
                  <a:pt x="518167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A6FB0"/>
          </a:solidFill>
          <a:ln/>
        </p:spPr>
      </p:sp>
      <p:sp>
        <p:nvSpPr>
          <p:cNvPr id="9" name="Text 7"/>
          <p:cNvSpPr/>
          <p:nvPr/>
        </p:nvSpPr>
        <p:spPr>
          <a:xfrm>
            <a:off x="6451502" y="1865437"/>
            <a:ext cx="48139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VMware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6272" y="2266730"/>
            <a:ext cx="474159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traditional VM estates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workloads needing a mature hypervisor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skilled in vSphere operations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76" y="623828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path to gradual modernization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76" y="1564593"/>
            <a:ext cx="3386651" cy="1445016"/>
          </a:xfrm>
          <a:prstGeom prst="roundRect">
            <a:avLst>
              <a:gd name="adj" fmla="val 7031"/>
            </a:avLst>
          </a:prstGeom>
          <a:solidFill>
            <a:srgbClr val="1B2B44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6" y="1564593"/>
            <a:ext cx="3386651" cy="1445016"/>
          </a:xfrm>
          <a:custGeom>
            <a:avLst/>
            <a:gdLst/>
            <a:ahLst/>
            <a:cxnLst/>
            <a:rect l="l" t="t" r="r" b="b"/>
            <a:pathLst>
              <a:path w="3386651" h="144501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51" y="0"/>
                </a:lnTo>
                <a:arcTo wR="101600" hR="101600" stAng="16200000" swAng="5400000"/>
                <a:lnTo>
                  <a:pt x="3386651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066727" y="1865437"/>
            <a:ext cx="296511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Keep VMs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727" y="2241308"/>
            <a:ext cx="296511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existing VMs on OpenShift Virtualization.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02" y="1564593"/>
            <a:ext cx="3386724" cy="1445016"/>
          </a:xfrm>
          <a:prstGeom prst="roundRect">
            <a:avLst>
              <a:gd name="adj" fmla="val 7031"/>
            </a:avLst>
          </a:prstGeom>
          <a:solidFill>
            <a:srgbClr val="1B2B44"/>
          </a:solidFill>
          <a:ln/>
        </p:spPr>
      </p:sp>
      <p:sp>
        <p:nvSpPr>
          <p:cNvPr id="8" name="Shape 6"/>
          <p:cNvSpPr/>
          <p:nvPr/>
        </p:nvSpPr>
        <p:spPr>
          <a:xfrm>
            <a:off x="4402602" y="1564593"/>
            <a:ext cx="3386724" cy="1445016"/>
          </a:xfrm>
          <a:custGeom>
            <a:avLst/>
            <a:gdLst/>
            <a:ahLst/>
            <a:cxnLst/>
            <a:rect l="l" t="t" r="r" b="b"/>
            <a:pathLst>
              <a:path w="3386724" h="144501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124" y="0"/>
                </a:lnTo>
                <a:arcTo wR="101600" hR="101600" stAng="16200000" swAng="5400000"/>
                <a:lnTo>
                  <a:pt x="338672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6AA9E6"/>
          </a:solidFill>
          <a:ln/>
        </p:spPr>
      </p:sp>
      <p:sp>
        <p:nvSpPr>
          <p:cNvPr id="9" name="Text 7"/>
          <p:cNvSpPr/>
          <p:nvPr/>
        </p:nvSpPr>
        <p:spPr>
          <a:xfrm>
            <a:off x="4656553" y="1865437"/>
            <a:ext cx="29651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Add containers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56553" y="2241308"/>
            <a:ext cx="296518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new cloud-native apps on the same platform.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501" y="1564593"/>
            <a:ext cx="3386724" cy="1445016"/>
          </a:xfrm>
          <a:prstGeom prst="roundRect">
            <a:avLst>
              <a:gd name="adj" fmla="val 7031"/>
            </a:avLst>
          </a:prstGeom>
          <a:solidFill>
            <a:srgbClr val="1B2B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2501" y="1564593"/>
            <a:ext cx="3386724" cy="1445016"/>
          </a:xfrm>
          <a:custGeom>
            <a:avLst/>
            <a:gdLst/>
            <a:ahLst/>
            <a:cxnLst/>
            <a:rect l="l" t="t" r="r" b="b"/>
            <a:pathLst>
              <a:path w="3386724" h="144501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124" y="0"/>
                </a:lnTo>
                <a:arcTo wR="101600" hR="101600" stAng="16200000" swAng="5400000"/>
                <a:lnTo>
                  <a:pt x="338672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452" y="1865437"/>
            <a:ext cx="29651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4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Modernize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46452" y="2241308"/>
            <a:ext cx="296518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 VM workloads into containers over time.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76" y="623829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9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Virtualization: pros and cons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76" y="1564593"/>
            <a:ext cx="5181600" cy="2022890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6" y="1564593"/>
            <a:ext cx="5181600" cy="2022890"/>
          </a:xfrm>
          <a:custGeom>
            <a:avLst/>
            <a:gdLst/>
            <a:ahLst/>
            <a:cxnLst/>
            <a:rect l="l" t="t" r="r" b="b"/>
            <a:pathLst>
              <a:path w="5181600" h="20228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1066727" y="1865437"/>
            <a:ext cx="481390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497" y="2266733"/>
            <a:ext cx="47415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for VMs and containers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foundation, less lock-in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Kubernetes-native automation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gradual modernization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551" y="1564593"/>
            <a:ext cx="5181673" cy="2022890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551" y="1564593"/>
            <a:ext cx="5181673" cy="2022890"/>
          </a:xfrm>
          <a:custGeom>
            <a:avLst/>
            <a:gdLst/>
            <a:ahLst/>
            <a:cxnLst/>
            <a:rect l="l" t="t" r="r" b="b"/>
            <a:pathLst>
              <a:path w="5181673" h="20228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73" y="0"/>
                </a:lnTo>
                <a:arcTo wR="101600" hR="101600" stAng="16200000" swAng="5400000"/>
                <a:lnTo>
                  <a:pt x="518167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9" name="Text 7"/>
          <p:cNvSpPr/>
          <p:nvPr/>
        </p:nvSpPr>
        <p:spPr>
          <a:xfrm>
            <a:off x="6451502" y="1865437"/>
            <a:ext cx="48139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6272" y="2266733"/>
            <a:ext cx="474159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Kubernetes and OpenShift skills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Younger VM tooling than VMware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Migrating existing VMs takes effort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operations add complexity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76" y="623829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76" y="812775"/>
            <a:ext cx="10883442" cy="47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VMware: pros and cons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76" y="1564593"/>
            <a:ext cx="5181600" cy="2022890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6" y="1564593"/>
            <a:ext cx="5181600" cy="2022890"/>
          </a:xfrm>
          <a:custGeom>
            <a:avLst/>
            <a:gdLst/>
            <a:ahLst/>
            <a:cxnLst/>
            <a:rect l="l" t="t" r="r" b="b"/>
            <a:pathLst>
              <a:path w="5181600" h="20228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1066727" y="1865437"/>
            <a:ext cx="481390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497" y="2266733"/>
            <a:ext cx="47415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Mature, proven enterprise hypervisor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ecosystem and management tooling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pool of skilled administrators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performance for traditional VMs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551" y="1564593"/>
            <a:ext cx="5181673" cy="2022890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551" y="1564593"/>
            <a:ext cx="5181673" cy="2022890"/>
          </a:xfrm>
          <a:custGeom>
            <a:avLst/>
            <a:gdLst/>
            <a:ahLst/>
            <a:cxnLst/>
            <a:rect l="l" t="t" r="r" b="b"/>
            <a:pathLst>
              <a:path w="5181673" h="20228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73" y="0"/>
                </a:lnTo>
                <a:arcTo wR="101600" hR="101600" stAng="16200000" swAng="5400000"/>
                <a:lnTo>
                  <a:pt x="518167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9252C"/>
          </a:solidFill>
          <a:ln/>
        </p:spPr>
      </p:sp>
      <p:sp>
        <p:nvSpPr>
          <p:cNvPr id="9" name="Text 7"/>
          <p:cNvSpPr/>
          <p:nvPr/>
        </p:nvSpPr>
        <p:spPr>
          <a:xfrm>
            <a:off x="6451502" y="1865437"/>
            <a:ext cx="48139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6272" y="2266733"/>
            <a:ext cx="474159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Proprietary, with vendor lock-in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costs and recent pricing changes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 are less native to the platform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C3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VM-centric model, slower path to cloud-native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76" y="623829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Virtualization vs VMware ·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Shift Virtualization vs VMware">
  <a:themeElements>
    <a:clrScheme name="OpenShift Virtualization vs VMware">
      <a:dk1>
        <a:srgbClr val="16202E"/>
      </a:dk1>
      <a:lt1>
        <a:srgbClr val="F3F4F1"/>
      </a:lt1>
      <a:dk2>
        <a:srgbClr val="4D555F"/>
      </a:dk2>
      <a:lt2>
        <a:srgbClr val="DDDFDE"/>
      </a:lt2>
      <a:accent1>
        <a:srgbClr val="FF6B6B"/>
      </a:accent1>
      <a:accent2>
        <a:srgbClr val="5B6674"/>
      </a:accent2>
      <a:accent3>
        <a:srgbClr val="C7D0DC"/>
      </a:accent3>
      <a:accent4>
        <a:srgbClr val="B8C2D0"/>
      </a:accent4>
      <a:accent5>
        <a:srgbClr val="8D99A8"/>
      </a:accent5>
      <a:accent6>
        <a:srgbClr val="9AA0A6"/>
      </a:accent6>
      <a:hlink>
        <a:srgbClr val="0563C1"/>
      </a:hlink>
      <a:folHlink>
        <a:srgbClr val="954F72"/>
      </a:folHlink>
    </a:clrScheme>
    <a:fontScheme name="OpenShift Virtualization vs VMwar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541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OpenShift Virtualization vs VMware</vt:lpstr>
      <vt:lpstr>OpenShift Virtualization vs VMware</vt:lpstr>
      <vt:lpstr>Virtualization and the hypervisor</vt:lpstr>
      <vt:lpstr>How a hypervisor manages resources</vt:lpstr>
      <vt:lpstr>VMware ESXi: the enterprise foundation</vt:lpstr>
      <vt:lpstr>OpenShift Virtualization with KubeVirt</vt:lpstr>
      <vt:lpstr>Key differences at a glance</vt:lpstr>
      <vt:lpstr>Typical use cases</vt:lpstr>
      <vt:lpstr>A path to gradual modernization</vt:lpstr>
      <vt:lpstr>OpenShift Virtualization: pros and cons</vt:lpstr>
      <vt:lpstr>VMware: pros and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Virtualization vs VMware</dc:title>
  <dc:subject/>
  <dc:creator/>
  <cp:lastModifiedBy>CH Sarmad Farooq</cp:lastModifiedBy>
  <cp:revision>1</cp:revision>
  <dcterms:created xsi:type="dcterms:W3CDTF">2026-10-07T08:04:44Z</dcterms:created>
  <dcterms:modified xsi:type="dcterms:W3CDTF">2026-10-07T08:17:02Z</dcterms:modified>
</cp:coreProperties>
</file>